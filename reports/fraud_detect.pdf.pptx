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D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946" y="-4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Fraud</c:v>
                </c:pt>
                <c:pt idx="1">
                  <c:v>Non Fraud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</c:v>
                </c:pt>
                <c:pt idx="1">
                  <c:v>207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507920168"/>
        <c:axId val="507917424"/>
      </c:barChart>
      <c:catAx>
        <c:axId val="5079201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7917424"/>
        <c:crosses val="autoZero"/>
        <c:auto val="1"/>
        <c:lblAlgn val="ctr"/>
        <c:lblOffset val="100"/>
        <c:noMultiLvlLbl val="0"/>
      </c:catAx>
      <c:valAx>
        <c:axId val="5079174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792016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C825DE-E213-4A5E-B81E-319936D37E8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4518E-502F-4E04-984C-BA884DECFB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136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E4518E-502F-4E04-984C-BA884DECFB6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920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E4518E-502F-4E04-984C-BA884DECFB6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2630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6212"/>
            <a:ext cx="8229600" cy="1473139"/>
          </a:xfrm>
        </p:spPr>
        <p:txBody>
          <a:bodyPr>
            <a:normAutofit fontScale="90000"/>
          </a:bodyPr>
          <a:lstStyle/>
          <a:p>
            <a:r>
              <a:rPr dirty="0"/>
              <a:t>Healthcare Provider Fraud </a:t>
            </a:r>
            <a:r>
              <a:rPr dirty="0" smtClean="0"/>
              <a:t>Detection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2200" dirty="0" smtClean="0"/>
              <a:t>”A </a:t>
            </a:r>
            <a:r>
              <a:rPr lang="en-US" sz="2200" dirty="0"/>
              <a:t>machine learning approach for Medicare provider fraud </a:t>
            </a:r>
            <a:r>
              <a:rPr lang="en-US" sz="2200" dirty="0" smtClean="0"/>
              <a:t>detection”</a:t>
            </a:r>
            <a:endParaRPr sz="2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55786"/>
            <a:ext cx="8229600" cy="2462514"/>
          </a:xfrm>
        </p:spPr>
        <p:txBody>
          <a:bodyPr/>
          <a:lstStyle/>
          <a:p>
            <a:pPr>
              <a:defRPr sz="2000"/>
            </a:pPr>
            <a:r>
              <a:rPr dirty="0"/>
              <a:t>Team Members: </a:t>
            </a:r>
            <a:r>
              <a:rPr lang="en-US" dirty="0" smtClean="0"/>
              <a:t>Karim </a:t>
            </a:r>
            <a:r>
              <a:rPr lang="en-US" dirty="0" err="1" smtClean="0"/>
              <a:t>Walid</a:t>
            </a:r>
            <a:r>
              <a:rPr lang="en-US" dirty="0" smtClean="0"/>
              <a:t>, Khaled Habib, Ibrahim </a:t>
            </a:r>
            <a:r>
              <a:rPr lang="en-US" dirty="0" err="1" smtClean="0"/>
              <a:t>Darwish</a:t>
            </a:r>
            <a:r>
              <a:rPr lang="en-US" dirty="0" smtClean="0"/>
              <a:t>, Aly Waleed</a:t>
            </a:r>
          </a:p>
          <a:p>
            <a:pPr>
              <a:defRPr sz="2000"/>
            </a:pPr>
            <a:r>
              <a:rPr dirty="0" smtClean="0"/>
              <a:t>Course</a:t>
            </a:r>
            <a:r>
              <a:rPr dirty="0"/>
              <a:t>: Machine </a:t>
            </a:r>
            <a:r>
              <a:rPr dirty="0" smtClean="0"/>
              <a:t>Learning</a:t>
            </a:r>
            <a:endParaRPr lang="en-US" dirty="0" smtClean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An end‑to‑end ML pipeline to detect fraudulent Medicare providers.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/>
          <a:srcRect t="23852" b="22746"/>
          <a:stretch/>
        </p:blipFill>
        <p:spPr>
          <a:xfrm>
            <a:off x="6323066" y="4884516"/>
            <a:ext cx="2363734" cy="12500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169542"/>
          </a:xfrm>
        </p:spPr>
        <p:txBody>
          <a:bodyPr>
            <a:normAutofit fontScale="92500" lnSpcReduction="10000"/>
          </a:bodyPr>
          <a:lstStyle/>
          <a:p>
            <a:pPr>
              <a:defRPr sz="2000"/>
            </a:pPr>
            <a:r>
              <a:rPr lang="en-US" dirty="0" smtClean="0"/>
              <a:t>Medicare </a:t>
            </a:r>
            <a:r>
              <a:rPr lang="en-US" dirty="0"/>
              <a:t>fraud costs the U.S. </a:t>
            </a:r>
            <a:r>
              <a:rPr lang="en-US" b="1" dirty="0"/>
              <a:t>over $60 billion annually</a:t>
            </a:r>
            <a:endParaRPr dirty="0"/>
          </a:p>
          <a:p>
            <a:pPr>
              <a:defRPr sz="2000"/>
            </a:pPr>
            <a:r>
              <a:rPr dirty="0" smtClean="0"/>
              <a:t>Goal</a:t>
            </a:r>
            <a:r>
              <a:rPr dirty="0"/>
              <a:t>: identify suspicious providers.</a:t>
            </a:r>
          </a:p>
          <a:p>
            <a:pPr>
              <a:defRPr sz="2000"/>
            </a:pPr>
            <a:r>
              <a:rPr dirty="0" smtClean="0"/>
              <a:t>Minimize </a:t>
            </a:r>
            <a:r>
              <a:rPr dirty="0"/>
              <a:t>false positives to avoid unnecessary investigations</a:t>
            </a:r>
            <a:r>
              <a:rPr dirty="0" smtClean="0"/>
              <a:t>.</a:t>
            </a:r>
            <a:endParaRPr lang="en-US" dirty="0"/>
          </a:p>
          <a:p>
            <a:pPr>
              <a:defRPr sz="2000"/>
            </a:pPr>
            <a:r>
              <a:rPr lang="en-US" dirty="0"/>
              <a:t>Manual audits are slow and expensive — ML can prioritize suspicious providers</a:t>
            </a:r>
            <a:r>
              <a:rPr lang="en-US" dirty="0" smtClean="0"/>
              <a:t>.</a:t>
            </a:r>
          </a:p>
          <a:p>
            <a:pPr>
              <a:defRPr sz="2000"/>
            </a:pPr>
            <a:r>
              <a:rPr lang="en-US" dirty="0"/>
              <a:t>Machine learning helps investigators focus on the providers most likely to commit fraud, improving efficiency</a:t>
            </a:r>
            <a:endParaRPr dirty="0"/>
          </a:p>
        </p:txBody>
      </p:sp>
      <p:pic>
        <p:nvPicPr>
          <p:cNvPr id="6146" name="Picture 2" descr="Small Warning Clip Art at Clker.com - vector clip art online, royalty free  &amp; public domai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2686" y="4153535"/>
            <a:ext cx="1554173" cy="1608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4791917" cy="2635370"/>
          </a:xfrm>
        </p:spPr>
        <p:txBody>
          <a:bodyPr/>
          <a:lstStyle/>
          <a:p>
            <a:pPr>
              <a:defRPr sz="2000"/>
            </a:pPr>
            <a:r>
              <a:rPr lang="en-US" dirty="0" smtClean="0"/>
              <a:t>Train </a:t>
            </a:r>
            <a:r>
              <a:rPr dirty="0" smtClean="0"/>
              <a:t>Beneficiary data</a:t>
            </a:r>
            <a:endParaRPr dirty="0"/>
          </a:p>
          <a:p>
            <a:pPr>
              <a:defRPr sz="2000"/>
            </a:pPr>
            <a:r>
              <a:rPr dirty="0" smtClean="0"/>
              <a:t>Inpatient claims</a:t>
            </a:r>
            <a:endParaRPr dirty="0"/>
          </a:p>
          <a:p>
            <a:pPr>
              <a:defRPr sz="2000"/>
            </a:pPr>
            <a:r>
              <a:rPr dirty="0" smtClean="0"/>
              <a:t>Outpatient claims</a:t>
            </a:r>
            <a:endParaRPr dirty="0"/>
          </a:p>
          <a:p>
            <a:pPr>
              <a:defRPr sz="2000"/>
            </a:pPr>
            <a:r>
              <a:rPr dirty="0" smtClean="0"/>
              <a:t>Provider-level </a:t>
            </a:r>
            <a:r>
              <a:rPr dirty="0"/>
              <a:t>fraud labels</a:t>
            </a:r>
          </a:p>
          <a:p>
            <a:pPr>
              <a:defRPr sz="2000"/>
            </a:pPr>
            <a:endParaRPr dirty="0"/>
          </a:p>
          <a:p>
            <a:pPr>
              <a:defRPr sz="2000"/>
            </a:pPr>
            <a:r>
              <a:rPr dirty="0"/>
              <a:t>Unit of analysis: Provider.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l="21202" t="23078" r="8909" b="1694"/>
          <a:stretch/>
        </p:blipFill>
        <p:spPr>
          <a:xfrm>
            <a:off x="536448" y="3951952"/>
            <a:ext cx="6851903" cy="279936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Engineering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318261"/>
            <a:ext cx="8229600" cy="2593340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TotalClaimCount: total number of claims submitted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TotalInscClaimAmtReimbursed </a:t>
            </a:r>
            <a:r>
              <a:rPr lang="en-US" sz="2000" dirty="0" smtClean="0"/>
              <a:t>: total Medicare reimbursement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AvgInscClaimAmtReimbursed : average reimbursement per claim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UniqueBeneficiaryCount: number of distinct patients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AvgLengthOfStay: average inpatient stay duration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NumChronicConditions_Mean: patient complexity indicator</a:t>
            </a:r>
          </a:p>
          <a:p>
            <a:endParaRPr lang="en-US" sz="20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41322"/>
            <a:ext cx="9144000" cy="25867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Class Imbalance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5394960" cy="784860"/>
          </a:xfrm>
        </p:spPr>
        <p:txBody>
          <a:bodyPr/>
          <a:lstStyle/>
          <a:p>
            <a:pPr>
              <a:defRPr sz="2000"/>
            </a:pPr>
            <a:r>
              <a:rPr lang="en-US" dirty="0" smtClean="0"/>
              <a:t>Fraudulent providers (Yes) : 25 -&gt; ~10.8% </a:t>
            </a:r>
          </a:p>
          <a:p>
            <a:pPr>
              <a:defRPr sz="2000"/>
            </a:pPr>
            <a:r>
              <a:rPr lang="en-US" dirty="0" smtClean="0"/>
              <a:t>Non-fraudulent </a:t>
            </a:r>
            <a:r>
              <a:rPr lang="en-US" dirty="0"/>
              <a:t>providers </a:t>
            </a:r>
            <a:r>
              <a:rPr lang="en-US" dirty="0" smtClean="0"/>
              <a:t>(No) </a:t>
            </a:r>
            <a:r>
              <a:rPr lang="en-US" dirty="0"/>
              <a:t>: </a:t>
            </a:r>
            <a:r>
              <a:rPr lang="en-US" dirty="0" smtClean="0"/>
              <a:t>207 -&gt; ~89.2% </a:t>
            </a:r>
            <a:endParaRPr lang="en-US" dirty="0"/>
          </a:p>
          <a:p>
            <a:pPr>
              <a:defRPr sz="2000"/>
            </a:pPr>
            <a:endParaRPr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7200" y="2560480"/>
            <a:ext cx="8229600" cy="133334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 sz="2000"/>
            </a:pPr>
            <a:r>
              <a:rPr lang="en-US" sz="2200" b="1" dirty="0" smtClean="0"/>
              <a:t>Why it matters?</a:t>
            </a:r>
          </a:p>
          <a:p>
            <a:pPr>
              <a:buFont typeface="Arial" panose="020B0604020202020204" pitchFamily="34" charset="0"/>
              <a:buChar char="•"/>
              <a:defRPr sz="2000"/>
            </a:pPr>
            <a:r>
              <a:rPr lang="en-US" sz="2000" dirty="0" smtClean="0"/>
              <a:t>Fraud is rare -&gt; only ~ 1 in 10 providers, model must be trained to avoid bias</a:t>
            </a:r>
          </a:p>
          <a:p>
            <a:pPr>
              <a:buFont typeface="Arial" panose="020B0604020202020204" pitchFamily="34" charset="0"/>
              <a:buChar char="•"/>
              <a:defRPr sz="2000"/>
            </a:pPr>
            <a:r>
              <a:rPr lang="en-US" sz="2000" dirty="0" smtClean="0"/>
              <a:t>Accuracy is misleading -&gt; We prioritize Precision, Recall, PR-AUC</a:t>
            </a:r>
            <a:endParaRPr lang="en-US" sz="2000" dirty="0"/>
          </a:p>
        </p:txBody>
      </p:sp>
      <p:sp>
        <p:nvSpPr>
          <p:cNvPr id="6" name="Rectangle 5"/>
          <p:cNvSpPr/>
          <p:nvPr/>
        </p:nvSpPr>
        <p:spPr>
          <a:xfrm>
            <a:off x="388620" y="4137660"/>
            <a:ext cx="8229600" cy="2369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 smtClean="0"/>
              <a:t>Imbalance handling</a:t>
            </a:r>
          </a:p>
          <a:p>
            <a:r>
              <a:rPr lang="en-US" i="1" dirty="0" smtClean="0"/>
              <a:t>We used:</a:t>
            </a:r>
          </a:p>
          <a:p>
            <a:r>
              <a:rPr lang="en-US" dirty="0" smtClean="0"/>
              <a:t>Class_weight = ‘balanced’ Which increases the penalty for misclassifying fraudulent providers, helping the model focus more on the minority class which was applied in </a:t>
            </a:r>
          </a:p>
          <a:p>
            <a:endParaRPr lang="en-US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Logistic Regression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/>
              <a:t>Random Forest</a:t>
            </a:r>
          </a:p>
          <a:p>
            <a:endParaRPr lang="en-US" dirty="0"/>
          </a:p>
        </p:txBody>
      </p:sp>
      <p:graphicFrame>
        <p:nvGraphicFramePr>
          <p:cNvPr id="19" name="Chart 18"/>
          <p:cNvGraphicFramePr/>
          <p:nvPr>
            <p:extLst>
              <p:ext uri="{D42A27DB-BD31-4B8C-83A1-F6EECF244321}">
                <p14:modId xmlns:p14="http://schemas.microsoft.com/office/powerpoint/2010/main" val="95397242"/>
              </p:ext>
            </p:extLst>
          </p:nvPr>
        </p:nvGraphicFramePr>
        <p:xfrm>
          <a:off x="6004560" y="1207929"/>
          <a:ext cx="2613660" cy="1569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Modeling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lang="en-US" sz="2200" b="1" dirty="0" smtClean="0"/>
              <a:t>Models evaluated:</a:t>
            </a:r>
          </a:p>
          <a:p>
            <a:pPr>
              <a:buFont typeface="Arial" panose="020B0604020202020204" pitchFamily="34" charset="0"/>
              <a:buChar char="•"/>
              <a:defRPr sz="2000"/>
            </a:pPr>
            <a:r>
              <a:rPr lang="en-US" sz="2000" dirty="0" smtClean="0"/>
              <a:t>LogisticRegression(</a:t>
            </a:r>
            <a:r>
              <a:rPr lang="en-US" sz="2000" i="1" dirty="0" err="1" smtClean="0"/>
              <a:t>class_weight</a:t>
            </a:r>
            <a:r>
              <a:rPr lang="en-US" sz="2000" dirty="0"/>
              <a:t>='balanced</a:t>
            </a:r>
            <a:r>
              <a:rPr lang="en-US" sz="2000" dirty="0" smtClean="0"/>
              <a:t>', </a:t>
            </a:r>
            <a:r>
              <a:rPr lang="en-US" sz="2000" i="1" dirty="0" err="1" smtClean="0"/>
              <a:t>random_state</a:t>
            </a:r>
            <a:r>
              <a:rPr lang="en-US" sz="2000" dirty="0" smtClean="0"/>
              <a:t>=42</a:t>
            </a:r>
            <a:r>
              <a:rPr lang="en-US" sz="2000" dirty="0"/>
              <a:t>, </a:t>
            </a:r>
            <a:r>
              <a:rPr lang="en-US" sz="2000" i="1" dirty="0" err="1"/>
              <a:t>max_iter</a:t>
            </a:r>
            <a:r>
              <a:rPr lang="en-US" sz="2000" dirty="0"/>
              <a:t>=1000</a:t>
            </a:r>
            <a:r>
              <a:rPr lang="en-US" sz="2000" dirty="0" smtClean="0"/>
              <a:t>)</a:t>
            </a:r>
          </a:p>
          <a:p>
            <a:pPr>
              <a:buFont typeface="Arial" panose="020B0604020202020204" pitchFamily="34" charset="0"/>
              <a:buChar char="•"/>
              <a:defRPr sz="2000"/>
            </a:pPr>
            <a:r>
              <a:rPr lang="en-US" sz="2000" dirty="0" err="1" smtClean="0"/>
              <a:t>RandomForestClassifier</a:t>
            </a:r>
            <a:r>
              <a:rPr lang="en-US" sz="2000" dirty="0" smtClean="0"/>
              <a:t>(</a:t>
            </a:r>
            <a:r>
              <a:rPr lang="en-US" sz="2000" i="1" dirty="0" err="1" smtClean="0"/>
              <a:t>class_weight</a:t>
            </a:r>
            <a:r>
              <a:rPr lang="en-US" sz="2000" dirty="0"/>
              <a:t>='balanced', </a:t>
            </a:r>
            <a:r>
              <a:rPr lang="en-US" sz="2000" i="1" dirty="0" err="1"/>
              <a:t>random_state</a:t>
            </a:r>
            <a:r>
              <a:rPr lang="en-US" sz="2000" dirty="0"/>
              <a:t>=42, </a:t>
            </a:r>
            <a:r>
              <a:rPr lang="en-US" sz="2000" i="1" dirty="0" err="1"/>
              <a:t>n_estimators</a:t>
            </a:r>
            <a:r>
              <a:rPr lang="en-US" sz="2000" dirty="0"/>
              <a:t>=100),</a:t>
            </a:r>
          </a:p>
          <a:p>
            <a:pPr>
              <a:buFont typeface="Arial" panose="020B0604020202020204" pitchFamily="34" charset="0"/>
              <a:buChar char="•"/>
              <a:defRPr sz="2000"/>
            </a:pPr>
            <a:r>
              <a:rPr lang="en-US" sz="2000" dirty="0" smtClean="0"/>
              <a:t>Gradient boosting(</a:t>
            </a:r>
            <a:r>
              <a:rPr lang="en-US" sz="2000" i="1" dirty="0" err="1" smtClean="0"/>
              <a:t>random_state</a:t>
            </a:r>
            <a:r>
              <a:rPr lang="en-US" sz="2000" dirty="0" smtClean="0"/>
              <a:t>=42</a:t>
            </a:r>
            <a:r>
              <a:rPr lang="en-US" sz="2000" dirty="0"/>
              <a:t>)</a:t>
            </a:r>
          </a:p>
          <a:p>
            <a:pPr marL="0" indent="0">
              <a:buNone/>
              <a:defRPr sz="2000"/>
            </a:pPr>
            <a:r>
              <a:rPr lang="en-US" sz="2200" b="1" dirty="0" smtClean="0"/>
              <a:t>Model Selection:</a:t>
            </a:r>
          </a:p>
          <a:p>
            <a:pPr>
              <a:buFont typeface="Arial" panose="020B0604020202020204" pitchFamily="34" charset="0"/>
              <a:buChar char="•"/>
              <a:defRPr sz="2000"/>
            </a:pPr>
            <a:r>
              <a:rPr lang="en-US" dirty="0"/>
              <a:t>Performed 5-fold </a:t>
            </a:r>
            <a:r>
              <a:rPr lang="en-US" b="1" dirty="0"/>
              <a:t>Stratified</a:t>
            </a:r>
            <a:r>
              <a:rPr lang="en-US" dirty="0"/>
              <a:t> cross-validation (F1 score) to compare models.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  <a:defRPr sz="2000"/>
            </a:pPr>
            <a:r>
              <a:rPr lang="en-US" sz="2000" dirty="0" smtClean="0"/>
              <a:t>Final model: </a:t>
            </a:r>
            <a:r>
              <a:rPr lang="en-US" sz="2000" dirty="0"/>
              <a:t>Gradient Boosting (based on highest CV F1 score).</a:t>
            </a: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Results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1140" y="1417639"/>
            <a:ext cx="4174534" cy="281146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1451625"/>
              </p:ext>
            </p:extLst>
          </p:nvPr>
        </p:nvGraphicFramePr>
        <p:xfrm>
          <a:off x="457200" y="1797459"/>
          <a:ext cx="295196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5580"/>
                <a:gridCol w="151638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Metrics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Value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b="1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Precision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0.74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Recall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0.54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F1-Score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0.63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ROC-AUC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0.95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/>
                        <a:t>PR-AUC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0.67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281940" y="4625978"/>
            <a:ext cx="817626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The model achieves strong detection performance with 74% precision, 54% recall, and high ROC-AUC (0.95), enabling investigators to focus on high-risk providers.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dirty="0"/>
              <a:t>Feature</a:t>
            </a:r>
            <a:r>
              <a:rPr dirty="0"/>
              <a:t> Importance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4572000" cy="2835885"/>
          </a:xfrm>
        </p:spPr>
        <p:txBody>
          <a:bodyPr>
            <a:normAutofit/>
          </a:bodyPr>
          <a:lstStyle/>
          <a:p>
            <a:pPr marL="0" indent="0">
              <a:buNone/>
              <a:defRPr sz="2000"/>
            </a:pPr>
            <a:r>
              <a:rPr lang="en-US" sz="1600" dirty="0" smtClean="0"/>
              <a:t>Top </a:t>
            </a:r>
            <a:r>
              <a:rPr lang="en-US" sz="1600" dirty="0"/>
              <a:t>features used by the Gradient Boosting </a:t>
            </a:r>
            <a:r>
              <a:rPr lang="en-US" sz="1600" dirty="0" smtClean="0"/>
              <a:t>model:</a:t>
            </a:r>
          </a:p>
          <a:p>
            <a:pPr>
              <a:buFont typeface="Arial" panose="020B0604020202020204" pitchFamily="34" charset="0"/>
              <a:buChar char="•"/>
              <a:defRPr sz="2000"/>
            </a:pPr>
            <a:r>
              <a:rPr lang="en-US" sz="1900" dirty="0" smtClean="0"/>
              <a:t>TotalInscClaimAmtReimbursed </a:t>
            </a:r>
            <a:r>
              <a:rPr lang="en-US" sz="1600" dirty="0" smtClean="0"/>
              <a:t>-&gt; strongest indicator</a:t>
            </a:r>
            <a:r>
              <a:rPr lang="en-US" sz="1600" dirty="0"/>
              <a:t>; unusually high total reimbursement raises suspicion</a:t>
            </a:r>
            <a:endParaRPr lang="en-US" sz="1600" dirty="0" smtClean="0"/>
          </a:p>
          <a:p>
            <a:pPr>
              <a:buFont typeface="Arial" panose="020B0604020202020204" pitchFamily="34" charset="0"/>
              <a:buChar char="•"/>
              <a:defRPr sz="2000"/>
            </a:pPr>
            <a:r>
              <a:rPr lang="en-US" sz="1900" dirty="0" smtClean="0"/>
              <a:t>TotalDeductibleAmtPaid</a:t>
            </a:r>
            <a:r>
              <a:rPr lang="en-US" sz="1600" dirty="0" smtClean="0"/>
              <a:t> </a:t>
            </a:r>
            <a:r>
              <a:rPr lang="en-US" sz="1600" dirty="0"/>
              <a:t>-&gt; High deductibles suggest unusual billing patterns.</a:t>
            </a:r>
            <a:endParaRPr lang="en-US" sz="1600" dirty="0" smtClean="0"/>
          </a:p>
          <a:p>
            <a:pPr>
              <a:buFont typeface="Arial" panose="020B0604020202020204" pitchFamily="34" charset="0"/>
              <a:buChar char="•"/>
              <a:defRPr sz="2000"/>
            </a:pPr>
            <a:r>
              <a:rPr lang="en-US" sz="1900" dirty="0" smtClean="0"/>
              <a:t>AvgLengthOfStay</a:t>
            </a:r>
            <a:r>
              <a:rPr lang="en-US" sz="1600" dirty="0" smtClean="0"/>
              <a:t> -&gt; Longer stays may reflect unnecessary or inflated admissions.</a:t>
            </a:r>
          </a:p>
          <a:p>
            <a:pPr>
              <a:buFont typeface="Arial" panose="020B0604020202020204" pitchFamily="34" charset="0"/>
              <a:buChar char="•"/>
              <a:defRPr sz="2000"/>
            </a:pPr>
            <a:endParaRPr lang="en-US" sz="1600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0160" y="1735261"/>
            <a:ext cx="3691889" cy="22006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2460" y="4247980"/>
            <a:ext cx="7658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Reimbursement </a:t>
            </a:r>
            <a:r>
              <a:rPr lang="en-US" dirty="0"/>
              <a:t>amounts and claim volume were the strongest predictors of potential fraud</a:t>
            </a:r>
            <a:r>
              <a:rPr lang="en-US" dirty="0" smtClean="0"/>
              <a:t>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 Analysis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 smtClean="0"/>
              <a:t>False Positives: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</a:t>
            </a:r>
            <a:r>
              <a:rPr lang="en-US" sz="1600" dirty="0" smtClean="0"/>
              <a:t>High </a:t>
            </a:r>
            <a:r>
              <a:rPr lang="en-US" sz="1600" dirty="0"/>
              <a:t>claim volume but legitimate </a:t>
            </a:r>
            <a:r>
              <a:rPr lang="en-US" sz="1600" dirty="0" smtClean="0"/>
              <a:t>practice </a:t>
            </a:r>
            <a:r>
              <a:rPr lang="en-US" sz="1600" dirty="0"/>
              <a:t>patterns.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 High </a:t>
            </a:r>
            <a:r>
              <a:rPr lang="en-US" sz="1600" dirty="0"/>
              <a:t>reimbursements due to specialized or expensive treatments.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 Unusual patient mix (many chronic conditions) causing atypical billing but valid payment</a:t>
            </a:r>
            <a:br>
              <a:rPr lang="en-US" sz="1600" dirty="0" smtClean="0"/>
            </a:br>
            <a:endParaRPr lang="en-US" sz="1600" dirty="0" smtClean="0"/>
          </a:p>
          <a:p>
            <a:pPr marL="0" indent="0">
              <a:buNone/>
            </a:pPr>
            <a:r>
              <a:rPr lang="en-US" sz="2000" b="1" dirty="0"/>
              <a:t>False </a:t>
            </a:r>
            <a:r>
              <a:rPr lang="en-US" sz="2000" b="1" dirty="0" smtClean="0"/>
              <a:t>Negatives: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smtClean="0"/>
              <a:t> Providers with very few claims (not enough data).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Fraud patterns that look similar to normal </a:t>
            </a:r>
            <a:r>
              <a:rPr lang="en-US" sz="1600" dirty="0" smtClean="0"/>
              <a:t>behavior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 Subtle or hidden fraud indicators not captured by available </a:t>
            </a:r>
            <a:r>
              <a:rPr lang="en-US" sz="1600" dirty="0" smtClean="0"/>
              <a:t>features</a:t>
            </a:r>
          </a:p>
          <a:p>
            <a:pPr marL="0" indent="0">
              <a:buNone/>
            </a:pPr>
            <a:r>
              <a:rPr lang="en-US" sz="2000" b="1" dirty="0" smtClean="0"/>
              <a:t/>
            </a:r>
            <a:br>
              <a:rPr lang="en-US" sz="2000" b="1" dirty="0" smtClean="0"/>
            </a:br>
            <a:r>
              <a:rPr lang="en-US" sz="2000" b="1" dirty="0" smtClean="0"/>
              <a:t>Limitations</a:t>
            </a:r>
            <a:r>
              <a:rPr lang="en-US" sz="1600" b="1" dirty="0" smtClean="0"/>
              <a:t>: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Small dataset (only 232 providers)  </a:t>
            </a:r>
            <a:r>
              <a:rPr lang="en-US" sz="1600" dirty="0" smtClean="0"/>
              <a:t>limits learning</a:t>
            </a:r>
            <a:r>
              <a:rPr lang="en-US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Class imbalance (~11% fraud) still affects recall despite class weighting.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Missing fraud-relevant features (e.g., referral networks, provider reputation</a:t>
            </a:r>
            <a:r>
              <a:rPr lang="en-US" sz="1600" dirty="0" smtClean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Gradient Boosting is less interpretable compared to </a:t>
            </a:r>
            <a:r>
              <a:rPr lang="en-US" sz="1600" dirty="0" smtClean="0"/>
              <a:t>linear models.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2129" y="4366233"/>
            <a:ext cx="74299" cy="3810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 smtClean="0"/>
              <a:t>Key Takeaways:</a:t>
            </a:r>
            <a:endParaRPr lang="en-US" sz="2000" dirty="0"/>
          </a:p>
          <a:p>
            <a:r>
              <a:rPr lang="en-US" sz="1600" dirty="0"/>
              <a:t>Built an end-to-end ML pipeline: data processing → feature engineering → modeling → evaluation.</a:t>
            </a:r>
          </a:p>
          <a:p>
            <a:r>
              <a:rPr lang="en-US" sz="1600" dirty="0"/>
              <a:t>Gradient Boosting selected as final model based on cross-validation and test performance.</a:t>
            </a:r>
          </a:p>
          <a:p>
            <a:r>
              <a:rPr lang="en-US" sz="1600" dirty="0"/>
              <a:t>Strong precision (0.74) and high ROC-AUC (0.95) show reliable fraud ranking.</a:t>
            </a:r>
          </a:p>
          <a:p>
            <a:r>
              <a:rPr lang="en-US" sz="1600" dirty="0"/>
              <a:t>Feature analysis revealed reimbursement amounts &amp; claim volume as the strongest fraud indicators</a:t>
            </a:r>
            <a:r>
              <a:rPr lang="en-US" sz="1600" dirty="0" smtClean="0"/>
              <a:t>.</a:t>
            </a:r>
            <a:br>
              <a:rPr lang="en-US" sz="1600" dirty="0" smtClean="0"/>
            </a:br>
            <a:endParaRPr lang="en-US" sz="1600" dirty="0"/>
          </a:p>
          <a:p>
            <a:pPr marL="0" indent="0">
              <a:buNone/>
            </a:pPr>
            <a:r>
              <a:rPr lang="en-US" sz="2000" b="1" dirty="0" smtClean="0"/>
              <a:t>Impact</a:t>
            </a:r>
            <a:r>
              <a:rPr lang="en-US" sz="1600" b="1" dirty="0" smtClean="0"/>
              <a:t>:</a:t>
            </a:r>
            <a:endParaRPr lang="en-US" sz="1600" dirty="0"/>
          </a:p>
          <a:p>
            <a:r>
              <a:rPr lang="en-US" sz="1600" dirty="0"/>
              <a:t>Helps investigators prioritize high-risk providers.</a:t>
            </a:r>
          </a:p>
          <a:p>
            <a:r>
              <a:rPr lang="en-US" sz="1600" dirty="0"/>
              <a:t>Reduces unnecessary audits by minimizing false positives</a:t>
            </a:r>
            <a:r>
              <a:rPr lang="en-US" sz="1600" dirty="0" smtClean="0"/>
              <a:t>.</a:t>
            </a:r>
          </a:p>
          <a:p>
            <a:pPr marL="0" indent="0">
              <a:buNone/>
            </a:pPr>
            <a:r>
              <a:rPr lang="en-US" sz="1600" dirty="0"/>
              <a:t/>
            </a:r>
            <a:br>
              <a:rPr lang="en-US" sz="1600" dirty="0"/>
            </a:br>
            <a:r>
              <a:rPr lang="en-US" sz="2000" b="1" dirty="0" smtClean="0"/>
              <a:t>Demo:</a:t>
            </a:r>
          </a:p>
          <a:p>
            <a:pPr marL="0" indent="0">
              <a:buNone/>
            </a:pPr>
            <a:r>
              <a:rPr lang="en-US" sz="1600" dirty="0" smtClean="0"/>
              <a:t>Load </a:t>
            </a:r>
            <a:r>
              <a:rPr lang="en-US" sz="1600" dirty="0"/>
              <a:t>the trained model (best_model.pkl</a:t>
            </a:r>
            <a:r>
              <a:rPr lang="en-US" sz="1600" dirty="0" smtClean="0"/>
              <a:t>).</a:t>
            </a:r>
          </a:p>
          <a:p>
            <a:pPr marL="0" indent="0">
              <a:buNone/>
            </a:pPr>
            <a:r>
              <a:rPr lang="en-US" sz="1600" dirty="0" smtClean="0"/>
              <a:t>Predict </a:t>
            </a:r>
            <a:r>
              <a:rPr lang="en-US" sz="1600" dirty="0"/>
              <a:t>fraud risk for unseen providers and display top suspicious cases.</a:t>
            </a:r>
          </a:p>
          <a:p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Any Questions PowerPoint template background in Symbols PowerPoint ppt slide  design category | The best PowerPoint templates and backgrounds at  PresentationPro.co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1847" y="1722676"/>
            <a:ext cx="5669209" cy="3194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611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254</TotalTime>
  <Words>496</Words>
  <Application>Microsoft Office PowerPoint</Application>
  <PresentationFormat>On-screen Show (4:3)</PresentationFormat>
  <Paragraphs>94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Healthcare Provider Fraud Detection ”A machine learning approach for Medicare provider fraud detection”</vt:lpstr>
      <vt:lpstr>Problem &amp; Impact</vt:lpstr>
      <vt:lpstr>Dataset Overview</vt:lpstr>
      <vt:lpstr>Feature Engineering</vt:lpstr>
      <vt:lpstr>Class Imbalance Strategy</vt:lpstr>
      <vt:lpstr>Modeling Approach</vt:lpstr>
      <vt:lpstr>Performance Results</vt:lpstr>
      <vt:lpstr>Feature Importance</vt:lpstr>
      <vt:lpstr>Error Analysis &amp; Limitations</vt:lpstr>
      <vt:lpstr>Conclusion &amp; Demo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Provider Fraud Detection</dc:title>
  <dc:subject/>
  <dc:creator>Karim</dc:creator>
  <cp:keywords/>
  <dc:description>generated using python-pptx</dc:description>
  <cp:lastModifiedBy>Microsoft account</cp:lastModifiedBy>
  <cp:revision>20</cp:revision>
  <dcterms:created xsi:type="dcterms:W3CDTF">2013-01-27T09:14:16Z</dcterms:created>
  <dcterms:modified xsi:type="dcterms:W3CDTF">2025-12-03T21:19:12Z</dcterms:modified>
  <cp:category/>
</cp:coreProperties>
</file>